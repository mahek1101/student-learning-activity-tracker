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5"/>
  </p:normalViewPr>
  <p:slideViewPr>
    <p:cSldViewPr snapToGrid="0" snapToObjects="1">
      <p:cViewPr varScale="1">
        <p:scale>
          <a:sx n="108" d="100"/>
          <a:sy n="108" d="100"/>
        </p:scale>
        <p:origin x="7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6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6597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18365F"/>
                </a:solidFill>
              </a:defRPr>
            </a:pPr>
            <a:r>
              <a:rPr sz="2400" dirty="0"/>
              <a:t>Student Learning Activity and</a:t>
            </a:r>
            <a:r>
              <a:rPr lang="en-US" sz="2400" dirty="0"/>
              <a:t> </a:t>
            </a:r>
            <a:r>
              <a:rPr sz="2400" dirty="0"/>
              <a:t>Course Relationship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5525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0">
                <a:solidFill>
                  <a:srgbClr val="226DB9"/>
                </a:solidFill>
              </a:defRPr>
            </a:pPr>
            <a:r>
              <a:rPr dirty="0"/>
              <a:t>Graduate NoSQL Database Project  •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465363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56445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400" b="1">
                <a:solidFill>
                  <a:srgbClr val="226DB9"/>
                </a:solidFill>
              </a:defRPr>
            </a:pPr>
            <a:r>
              <a:rPr dirty="0"/>
              <a:t>Neo4j  •  Python  •  Flask  •  HTML/CSS/JavaScript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62475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18365F"/>
                </a:solidFill>
              </a:defRPr>
            </a:pPr>
            <a:r>
              <a:rPr dirty="0"/>
              <a:t>Mahek Patel  |  Yashvi Patel  |  Rishikesh Pathak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6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18365F"/>
                </a:solidFill>
              </a:defRPr>
            </a:pPr>
            <a:r>
              <a:t>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465363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27080" cy="13716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0370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Track students, courses, enrollments, and completed learning activities.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30880"/>
            <a:ext cx="10927080" cy="13716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3406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97223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Use a graph database to represent how learning entities are connected.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24400"/>
            <a:ext cx="10927080" cy="13716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8341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9074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A working web application for managing and exploring learning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6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18365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465363"/>
                </a:solidFill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0370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Student and course information is often stored separately, making relationships harder to explore.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7500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672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Objective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2384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Manage student profiles, courses, and enrollment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08736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Objective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Record learning activities and view individual learning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97780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2075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Objective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56412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Use Neo4j relationships to retrieve connected information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6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18365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465363"/>
                </a:solidFill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Database — Neo4j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0370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Stores Student, Course, and LearningActivity nodes and their relationships.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7500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672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Backend — Python + Flask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2384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Handles routes, form validation, and Neo4j database queries.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08736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Frontend — HTML, CSS, 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Provides dashboards, forms, tables, and interactive controls.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97780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2075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Query Language — Cypher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56412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Creates, matches, updates, and deletes graph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6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18365F"/>
                </a:solidFill>
              </a:defRPr>
            </a:pPr>
            <a:r>
              <a:t>Why Neo4j?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465363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27080" cy="13716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Relationship-focused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0370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Enrollment and activity connections are first-class graph relationships.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30880"/>
            <a:ext cx="10927080" cy="13716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3406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Readable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97223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Cypher expresses paths such as Student → Course and Student →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24400"/>
            <a:ext cx="10927080" cy="13716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8341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Flexible exploration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9074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Traverse connected records without manually combining many tables.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6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18365F"/>
                </a:solidFill>
              </a:defRPr>
            </a:pPr>
            <a:r>
              <a:t>Graph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521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0">
                <a:solidFill>
                  <a:srgbClr val="226DB9"/>
                </a:solidFill>
              </a:defRPr>
            </a:pPr>
            <a:r>
              <a:t>Three node labels and three relationship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465363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3017520" cy="1325880"/>
          </a:xfrm>
          <a:prstGeom prst="roundRect">
            <a:avLst/>
          </a:prstGeom>
          <a:solidFill>
            <a:srgbClr val="E8F3FE"/>
          </a:solidFill>
          <a:ln>
            <a:solidFill>
              <a:srgbClr val="226D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482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1">
                <a:solidFill>
                  <a:srgbClr val="18365F"/>
                </a:solidFill>
              </a:defRPr>
            </a:pPr>
            <a: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0">
                <a:solidFill>
                  <a:srgbClr val="465363"/>
                </a:solidFill>
              </a:defRPr>
            </a:pPr>
            <a:r>
              <a:t>student_id, name,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74519"/>
            <a:ext cx="3017520" cy="1325880"/>
          </a:xfrm>
          <a:prstGeom prst="roundRect">
            <a:avLst/>
          </a:prstGeom>
          <a:solidFill>
            <a:srgbClr val="E8F3FE"/>
          </a:solidFill>
          <a:ln>
            <a:solidFill>
              <a:srgbClr val="226D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0482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1">
                <a:solidFill>
                  <a:srgbClr val="18365F"/>
                </a:solidFill>
              </a:defRPr>
            </a:pPr>
            <a:r>
              <a:t>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420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0">
                <a:solidFill>
                  <a:srgbClr val="465363"/>
                </a:solidFill>
              </a:defRPr>
            </a:pPr>
            <a:r>
              <a:t>course_id, course_name, credits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74519"/>
            <a:ext cx="3017520" cy="1325880"/>
          </a:xfrm>
          <a:prstGeom prst="roundRect">
            <a:avLst/>
          </a:prstGeom>
          <a:solidFill>
            <a:srgbClr val="E8F3FE"/>
          </a:solidFill>
          <a:ln>
            <a:solidFill>
              <a:srgbClr val="226D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0482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1">
                <a:solidFill>
                  <a:srgbClr val="18365F"/>
                </a:solidFill>
              </a:defRPr>
            </a:pPr>
            <a:r>
              <a:t>LearningActivity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420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0">
                <a:solidFill>
                  <a:srgbClr val="465363"/>
                </a:solidFill>
              </a:defRPr>
            </a:pPr>
            <a:r>
              <a:t>activity_id, title, type, date, duration, description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94760"/>
            <a:ext cx="10515600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8365F"/>
                </a:solidFill>
              </a:defRPr>
            </a:pPr>
            <a:r>
              <a:rPr dirty="0"/>
              <a:t>Student  ── ENROLLED_IN ──</a:t>
            </a:r>
            <a:r>
              <a:rPr lang="en-US" dirty="0"/>
              <a:t>&gt;</a:t>
            </a:r>
            <a:r>
              <a:rPr dirty="0"/>
              <a:t>  Course</a:t>
            </a:r>
          </a:p>
          <a:p>
            <a:pPr>
              <a:spcAft>
                <a:spcPts val="1300"/>
              </a:spcAft>
              <a:defRPr sz="2100" b="0">
                <a:solidFill>
                  <a:srgbClr val="18365F"/>
                </a:solidFill>
              </a:defRPr>
            </a:pPr>
            <a:r>
              <a:rPr dirty="0"/>
              <a:t>Student  ── COMPLETED ──</a:t>
            </a:r>
            <a:r>
              <a:rPr lang="en-US" dirty="0"/>
              <a:t>&gt;</a:t>
            </a:r>
            <a:r>
              <a:rPr dirty="0"/>
              <a:t>  </a:t>
            </a:r>
            <a:r>
              <a:rPr dirty="0" err="1"/>
              <a:t>LearningActivity</a:t>
            </a:r>
            <a:endParaRPr dirty="0"/>
          </a:p>
          <a:p>
            <a:pPr>
              <a:spcAft>
                <a:spcPts val="1300"/>
              </a:spcAft>
              <a:defRPr sz="2100" b="0">
                <a:solidFill>
                  <a:srgbClr val="18365F"/>
                </a:solidFill>
              </a:defRPr>
            </a:pPr>
            <a:r>
              <a:rPr dirty="0" err="1"/>
              <a:t>LearningActivity</a:t>
            </a:r>
            <a:r>
              <a:rPr dirty="0"/>
              <a:t>  ── FOR_COURSE ──</a:t>
            </a:r>
            <a:r>
              <a:rPr lang="en-US" dirty="0"/>
              <a:t>&gt;</a:t>
            </a:r>
            <a:r>
              <a:rPr dirty="0"/>
              <a:t>  Course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6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18365F"/>
                </a:solidFill>
              </a:defRPr>
            </a:pPr>
            <a:r>
              <a:t>Neo4j Graph: Complete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521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0">
                <a:solidFill>
                  <a:srgbClr val="226DB9"/>
                </a:solidFill>
              </a:defRPr>
            </a:pPr>
            <a:r>
              <a:t>Actual project database  •  17 nodes  •  24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465363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574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8365F"/>
                </a:solidFill>
              </a:defRPr>
            </a:pPr>
            <a:r>
              <a:t>6 Students</a:t>
            </a:r>
          </a:p>
          <a:p>
            <a:pPr>
              <a:spcAft>
                <a:spcPts val="1300"/>
              </a:spcAft>
              <a:defRPr sz="2100" b="0">
                <a:solidFill>
                  <a:srgbClr val="18365F"/>
                </a:solidFill>
              </a:defRPr>
            </a:pPr>
            <a:r>
              <a:t>5 Courses</a:t>
            </a:r>
          </a:p>
          <a:p>
            <a:pPr>
              <a:spcAft>
                <a:spcPts val="1300"/>
              </a:spcAft>
              <a:defRPr sz="2100" b="0">
                <a:solidFill>
                  <a:srgbClr val="18365F"/>
                </a:solidFill>
              </a:defRPr>
            </a:pPr>
            <a:r>
              <a:t>6 Learning Activities</a:t>
            </a:r>
          </a:p>
          <a:p>
            <a:pPr>
              <a:spcAft>
                <a:spcPts val="1300"/>
              </a:spcAft>
              <a:defRPr sz="2100" b="0">
                <a:solidFill>
                  <a:srgbClr val="18365F"/>
                </a:solidFill>
              </a:defRPr>
            </a:pPr>
            <a:endParaRPr/>
          </a:p>
          <a:p>
            <a:pPr>
              <a:spcAft>
                <a:spcPts val="1300"/>
              </a:spcAft>
              <a:defRPr sz="2100" b="0">
                <a:solidFill>
                  <a:srgbClr val="18365F"/>
                </a:solidFill>
              </a:defRPr>
            </a:pPr>
            <a:r>
              <a:t>12 ENROLLED_IN</a:t>
            </a:r>
          </a:p>
          <a:p>
            <a:pPr>
              <a:spcAft>
                <a:spcPts val="1300"/>
              </a:spcAft>
              <a:defRPr sz="2100" b="0">
                <a:solidFill>
                  <a:srgbClr val="18365F"/>
                </a:solidFill>
              </a:defRPr>
            </a:pPr>
            <a:r>
              <a:t>6 COMPLETED</a:t>
            </a:r>
          </a:p>
          <a:p>
            <a:pPr>
              <a:spcAft>
                <a:spcPts val="1300"/>
              </a:spcAft>
              <a:defRPr sz="2100" b="0">
                <a:solidFill>
                  <a:srgbClr val="18365F"/>
                </a:solidFill>
              </a:defRPr>
            </a:pPr>
            <a:r>
              <a:t>6 FOR_COURSE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531982-2168-2930-08E0-D5BDD424B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6036" y="1426464"/>
            <a:ext cx="8211870" cy="51999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6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18365F"/>
                </a:solidFill>
              </a:defRPr>
            </a:pPr>
            <a:r>
              <a:t>Neo4j Graph: Relationship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521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0">
                <a:solidFill>
                  <a:srgbClr val="226DB9"/>
                </a:solidFill>
              </a:defRPr>
            </a:pPr>
            <a:r>
              <a:t>A real connected record from the project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465363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659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8365F"/>
                </a:solidFill>
              </a:defRPr>
            </a:pPr>
            <a:r>
              <a:t>Parker → enrolled in → Advanced Database Systems</a:t>
            </a:r>
          </a:p>
          <a:p>
            <a:pPr>
              <a:spcAft>
                <a:spcPts val="1300"/>
              </a:spcAft>
              <a:defRPr sz="1900" b="0">
                <a:solidFill>
                  <a:srgbClr val="18365F"/>
                </a:solidFill>
              </a:defRPr>
            </a:pPr>
            <a:endParaRPr/>
          </a:p>
          <a:p>
            <a:pPr>
              <a:spcAft>
                <a:spcPts val="1300"/>
              </a:spcAft>
              <a:defRPr sz="1900" b="0">
                <a:solidFill>
                  <a:srgbClr val="18365F"/>
                </a:solidFill>
              </a:defRPr>
            </a:pPr>
            <a:r>
              <a:t>Parker → completed → Advanced SQL Query Practice</a:t>
            </a:r>
          </a:p>
          <a:p>
            <a:pPr>
              <a:spcAft>
                <a:spcPts val="1300"/>
              </a:spcAft>
              <a:defRPr sz="1900" b="0">
                <a:solidFill>
                  <a:srgbClr val="18365F"/>
                </a:solidFill>
              </a:defRPr>
            </a:pPr>
            <a:endParaRPr/>
          </a:p>
          <a:p>
            <a:pPr>
              <a:spcAft>
                <a:spcPts val="1300"/>
              </a:spcAft>
              <a:defRPr sz="1900" b="0">
                <a:solidFill>
                  <a:srgbClr val="18365F"/>
                </a:solidFill>
              </a:defRPr>
            </a:pPr>
            <a:r>
              <a:t>Activity → for course → Advanced Database Systems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6C73E7-7CF7-FA28-3747-1351EFDAA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" y="508000"/>
            <a:ext cx="648970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6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18365F"/>
                </a:solidFill>
              </a:defRPr>
            </a:pPr>
            <a:r>
              <a:t>System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465363"/>
                </a:solidFill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Student &amp; course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0370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Add, view, edit, and delete records with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7500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672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Enrollment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2384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Connect students to courses; restrict activities to enrolled courses.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08736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Learning activity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Track activity type, date, duration, description, and course.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97780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2075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Dashboard &amp; learning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56412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View counts, completed activities, total minutes, and course history.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6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18365F"/>
                </a:solidFill>
              </a:defRPr>
            </a:pPr>
            <a:r>
              <a:t>Cypher Operations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521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0">
                <a:solidFill>
                  <a:srgbClr val="226DB9"/>
                </a:solidFill>
              </a:defRPr>
            </a:pPr>
            <a:r>
              <a:t>Flask uses the Neo4j Python driver to execute parameterized Cypher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465363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51560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18365F"/>
                </a:solidFill>
              </a:defRPr>
            </a:pPr>
            <a:r>
              <a:rPr dirty="0"/>
              <a:t>CREATE / MERGE     </a:t>
            </a:r>
            <a:r>
              <a:rPr lang="en-US" dirty="0"/>
              <a:t>			</a:t>
            </a:r>
            <a:r>
              <a:rPr dirty="0"/>
              <a:t>Add graph records and relationships</a:t>
            </a:r>
          </a:p>
          <a:p>
            <a:pPr>
              <a:spcAft>
                <a:spcPts val="1300"/>
              </a:spcAft>
              <a:defRPr sz="2000" b="0">
                <a:solidFill>
                  <a:srgbClr val="18365F"/>
                </a:solidFill>
              </a:defRPr>
            </a:pPr>
            <a:r>
              <a:rPr dirty="0"/>
              <a:t>MATCH                         </a:t>
            </a:r>
            <a:r>
              <a:rPr lang="en-US" dirty="0"/>
              <a:t>			</a:t>
            </a:r>
            <a:r>
              <a:rPr dirty="0"/>
              <a:t>Retrieve connected nodes</a:t>
            </a:r>
          </a:p>
          <a:p>
            <a:pPr>
              <a:spcAft>
                <a:spcPts val="1300"/>
              </a:spcAft>
              <a:defRPr sz="2000" b="0">
                <a:solidFill>
                  <a:srgbClr val="18365F"/>
                </a:solidFill>
              </a:defRPr>
            </a:pPr>
            <a:r>
              <a:rPr dirty="0"/>
              <a:t>SET                               </a:t>
            </a:r>
            <a:r>
              <a:rPr lang="en-US" dirty="0"/>
              <a:t>			</a:t>
            </a:r>
            <a:r>
              <a:rPr dirty="0"/>
              <a:t>Update node properties</a:t>
            </a:r>
          </a:p>
          <a:p>
            <a:pPr>
              <a:spcAft>
                <a:spcPts val="1300"/>
              </a:spcAft>
              <a:defRPr sz="2000" b="0">
                <a:solidFill>
                  <a:srgbClr val="18365F"/>
                </a:solidFill>
              </a:defRPr>
            </a:pPr>
            <a:r>
              <a:rPr dirty="0"/>
              <a:t>DELETE / DETACH DELETE    </a:t>
            </a:r>
            <a:r>
              <a:rPr lang="en-US" dirty="0"/>
              <a:t>	</a:t>
            </a:r>
            <a:r>
              <a:rPr dirty="0"/>
              <a:t>Remove relationships or records</a:t>
            </a:r>
          </a:p>
          <a:p>
            <a:pPr>
              <a:spcAft>
                <a:spcPts val="1300"/>
              </a:spcAft>
              <a:defRPr sz="2000" b="0">
                <a:solidFill>
                  <a:srgbClr val="18365F"/>
                </a:solidFill>
              </a:defRPr>
            </a:pPr>
            <a:r>
              <a:rPr dirty="0"/>
              <a:t>COUNT                          </a:t>
            </a:r>
            <a:r>
              <a:rPr lang="en-US" dirty="0"/>
              <a:t>		</a:t>
            </a:r>
            <a:r>
              <a:rPr dirty="0"/>
              <a:t> </a:t>
            </a:r>
            <a:r>
              <a:rPr lang="en-US" dirty="0"/>
              <a:t>	</a:t>
            </a:r>
            <a:r>
              <a:rPr dirty="0"/>
              <a:t>Summarize dashboard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7150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26DB9"/>
                </a:solidFill>
              </a:defRPr>
            </a:pPr>
            <a:r>
              <a:t>Example: MATCH (s:Student)-[:ENROLLED_IN]-&gt;(c:Course) RETURN s,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6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18365F"/>
                </a:solidFill>
              </a:defRPr>
            </a:pPr>
            <a:r>
              <a:t>Validation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465363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Input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0370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Reject blank required fields, invalid names/emails, and nonpositive durations or credits.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7500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672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Duplicate prevention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2384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Check student IDs, course IDs, and student email uniqueness.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08736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Relationship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Only allow a learning activity for a course in which its student is enrolled.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97780"/>
            <a:ext cx="10927080" cy="1028700"/>
          </a:xfrm>
          <a:prstGeom prst="roundRect">
            <a:avLst/>
          </a:prstGeom>
          <a:solidFill>
            <a:srgbClr val="E8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2075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18365F"/>
                </a:solidFill>
              </a:defRPr>
            </a:pPr>
            <a:r>
              <a:t>Functional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56412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465363"/>
                </a:solidFill>
              </a:defRPr>
            </a:pPr>
            <a:r>
              <a:t>Verify CRUD flows, graph links, learning history, and dashboard counts.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6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18365F"/>
                </a:solidFill>
              </a:defRPr>
            </a:pPr>
            <a:r>
              <a:t>Live Demonstration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521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0">
                <a:solidFill>
                  <a:srgbClr val="226DB9"/>
                </a:solidFill>
              </a:defRPr>
            </a:pPr>
            <a:r>
              <a:t>Demonstrate the working Flask application alongside Neo4j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465363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18365F"/>
                </a:solidFill>
              </a:defRPr>
            </a:pPr>
            <a:r>
              <a:t>1. Open the dashboard and show student/course/activity totals.</a:t>
            </a:r>
          </a:p>
          <a:p>
            <a:pPr>
              <a:spcAft>
                <a:spcPts val="1300"/>
              </a:spcAft>
              <a:defRPr sz="2000" b="0">
                <a:solidFill>
                  <a:srgbClr val="18365F"/>
                </a:solidFill>
              </a:defRPr>
            </a:pPr>
            <a:r>
              <a:t>2. View enrollments and add a learning activity.</a:t>
            </a:r>
          </a:p>
          <a:p>
            <a:pPr>
              <a:spcAft>
                <a:spcPts val="1300"/>
              </a:spcAft>
              <a:defRPr sz="2000" b="0">
                <a:solidFill>
                  <a:srgbClr val="18365F"/>
                </a:solidFill>
              </a:defRPr>
            </a:pPr>
            <a:r>
              <a:t>3. Show student learning history.</a:t>
            </a:r>
          </a:p>
          <a:p>
            <a:pPr>
              <a:spcAft>
                <a:spcPts val="1300"/>
              </a:spcAft>
              <a:defRPr sz="2000" b="0">
                <a:solidFill>
                  <a:srgbClr val="18365F"/>
                </a:solidFill>
              </a:defRPr>
            </a:pPr>
            <a:r>
              <a:t>4. Run a Cypher query to visualize linked nodes.</a:t>
            </a:r>
          </a:p>
          <a:p>
            <a:pPr>
              <a:spcAft>
                <a:spcPts val="1300"/>
              </a:spcAft>
              <a:defRPr sz="2000" b="0">
                <a:solidFill>
                  <a:srgbClr val="18365F"/>
                </a:solidFill>
              </a:defRPr>
            </a:pPr>
            <a:r>
              <a:t>5. Highlight input validation and relationship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1">
                <a:solidFill>
                  <a:srgbClr val="226DB9"/>
                </a:solidFill>
              </a:defRPr>
            </a:pPr>
            <a:r>
              <a:t>Conclusion: Neo4j provides a clear model for tracking connected student learning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65363"/>
                </a:solidFill>
              </a:defRPr>
            </a:pPr>
            <a:r>
              <a:t>GitHub: github.com/Mahek1101/Student-Learning-Activity-Tracker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672</Words>
  <Application>Microsoft Macintosh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Mihir Patel</cp:lastModifiedBy>
  <cp:revision>2</cp:revision>
  <dcterms:created xsi:type="dcterms:W3CDTF">2013-01-27T09:14:16Z</dcterms:created>
  <dcterms:modified xsi:type="dcterms:W3CDTF">2026-10-25T21:03:11Z</dcterms:modified>
  <cp:category/>
</cp:coreProperties>
</file>